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0F86E-9C81-4E3A-BB2C-6B490582E567}" v="13" dt="2026-09-23T05:45:26.708"/>
    <p1510:client id="{54DAC3A7-8C4E-415D-8750-D8224DF0A5FE}" v="2" dt="2026-09-23T06:11:00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민영/계장/고객가치혁신인사노경1팀" userId="eb5e190c-fe15-4c48-89f0-461df3c67bfd" providerId="ADAL" clId="{54DAC3A7-8C4E-415D-8750-D8224DF0A5FE}"/>
    <pc:docChg chg="custSel modSld">
      <pc:chgData name="김민영/계장/고객가치혁신인사노경1팀" userId="eb5e190c-fe15-4c48-89f0-461df3c67bfd" providerId="ADAL" clId="{54DAC3A7-8C4E-415D-8750-D8224DF0A5FE}" dt="2026-09-23T06:11:11.490" v="44" actId="478"/>
      <pc:docMkLst>
        <pc:docMk/>
      </pc:docMkLst>
      <pc:sldChg chg="addSp delSp modSp mod">
        <pc:chgData name="김민영/계장/고객가치혁신인사노경1팀" userId="eb5e190c-fe15-4c48-89f0-461df3c67bfd" providerId="ADAL" clId="{54DAC3A7-8C4E-415D-8750-D8224DF0A5FE}" dt="2026-09-23T06:11:11.490" v="44" actId="478"/>
        <pc:sldMkLst>
          <pc:docMk/>
          <pc:sldMk cId="0" sldId="256"/>
        </pc:sldMkLst>
        <pc:spChg chg="add del mod">
          <ac:chgData name="김민영/계장/고객가치혁신인사노경1팀" userId="eb5e190c-fe15-4c48-89f0-461df3c67bfd" providerId="ADAL" clId="{54DAC3A7-8C4E-415D-8750-D8224DF0A5FE}" dt="2026-09-23T06:11:09.586" v="43" actId="478"/>
          <ac:spMkLst>
            <pc:docMk/>
            <pc:sldMk cId="0" sldId="256"/>
            <ac:spMk id="14" creationId="{FC0CD824-5FA9-13E2-243C-A4CBA045F378}"/>
          </ac:spMkLst>
        </pc:spChg>
        <pc:picChg chg="add del mod ord">
          <ac:chgData name="김민영/계장/고객가치혁신인사노경1팀" userId="eb5e190c-fe15-4c48-89f0-461df3c67bfd" providerId="ADAL" clId="{54DAC3A7-8C4E-415D-8750-D8224DF0A5FE}" dt="2026-09-23T06:11:11.490" v="44" actId="478"/>
          <ac:picMkLst>
            <pc:docMk/>
            <pc:sldMk cId="0" sldId="256"/>
            <ac:picMk id="13" creationId="{44A065A8-5BE3-AA82-3073-2AA9D1ECD19D}"/>
          </ac:picMkLst>
        </pc:picChg>
      </pc:sldChg>
      <pc:sldChg chg="modSp mod">
        <pc:chgData name="김민영/계장/고객가치혁신인사노경1팀" userId="eb5e190c-fe15-4c48-89f0-461df3c67bfd" providerId="ADAL" clId="{54DAC3A7-8C4E-415D-8750-D8224DF0A5FE}" dt="2026-09-23T06:09:44.802" v="37" actId="1037"/>
        <pc:sldMkLst>
          <pc:docMk/>
          <pc:sldMk cId="0" sldId="261"/>
        </pc:sldMkLst>
        <pc:spChg chg="mod">
          <ac:chgData name="김민영/계장/고객가치혁신인사노경1팀" userId="eb5e190c-fe15-4c48-89f0-461df3c67bfd" providerId="ADAL" clId="{54DAC3A7-8C4E-415D-8750-D8224DF0A5FE}" dt="2026-09-23T06:09:39.965" v="30" actId="1038"/>
          <ac:spMkLst>
            <pc:docMk/>
            <pc:sldMk cId="0" sldId="261"/>
            <ac:spMk id="11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9:39.965" v="30" actId="1038"/>
          <ac:spMkLst>
            <pc:docMk/>
            <pc:sldMk cId="0" sldId="261"/>
            <ac:spMk id="12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9:26.128" v="20" actId="208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9:44.802" v="37" actId="103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9:44.802" v="37" actId="1037"/>
          <ac:spMkLst>
            <pc:docMk/>
            <pc:sldMk cId="0" sldId="261"/>
            <ac:spMk id="18" creationId="{00000000-0000-0000-0000-000000000000}"/>
          </ac:spMkLst>
        </pc:spChg>
      </pc:sldChg>
      <pc:sldChg chg="modSp mod">
        <pc:chgData name="김민영/계장/고객가치혁신인사노경1팀" userId="eb5e190c-fe15-4c48-89f0-461df3c67bfd" providerId="ADAL" clId="{54DAC3A7-8C4E-415D-8750-D8224DF0A5FE}" dt="2026-09-23T06:08:23.350" v="18" actId="1035"/>
        <pc:sldMkLst>
          <pc:docMk/>
          <pc:sldMk cId="0" sldId="265"/>
        </pc:sldMkLst>
        <pc:spChg chg="mod">
          <ac:chgData name="김민영/계장/고객가치혁신인사노경1팀" userId="eb5e190c-fe15-4c48-89f0-461df3c67bfd" providerId="ADAL" clId="{54DAC3A7-8C4E-415D-8750-D8224DF0A5FE}" dt="2026-09-23T06:08:01.742" v="4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01.742" v="4" actId="2711"/>
          <ac:spMkLst>
            <pc:docMk/>
            <pc:sldMk cId="0" sldId="265"/>
            <ac:spMk id="8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01.742" v="4" actId="2711"/>
          <ac:spMkLst>
            <pc:docMk/>
            <pc:sldMk cId="0" sldId="265"/>
            <ac:spMk id="9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23.350" v="18" actId="1035"/>
          <ac:spMkLst>
            <pc:docMk/>
            <pc:sldMk cId="0" sldId="265"/>
            <ac:spMk id="13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23.350" v="18" actId="103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23.350" v="18" actId="1035"/>
          <ac:spMkLst>
            <pc:docMk/>
            <pc:sldMk cId="0" sldId="265"/>
            <ac:spMk id="15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23.350" v="18" actId="1035"/>
          <ac:spMkLst>
            <pc:docMk/>
            <pc:sldMk cId="0" sldId="265"/>
            <ac:spMk id="16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23.350" v="18" actId="1035"/>
          <ac:spMkLst>
            <pc:docMk/>
            <pc:sldMk cId="0" sldId="265"/>
            <ac:spMk id="17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01.742" v="4" actId="2711"/>
          <ac:spMkLst>
            <pc:docMk/>
            <pc:sldMk cId="0" sldId="265"/>
            <ac:spMk id="20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23.350" v="18" actId="1035"/>
          <ac:spMkLst>
            <pc:docMk/>
            <pc:sldMk cId="0" sldId="265"/>
            <ac:spMk id="25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23.350" v="18" actId="1035"/>
          <ac:spMkLst>
            <pc:docMk/>
            <pc:sldMk cId="0" sldId="265"/>
            <ac:spMk id="26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23.350" v="18" actId="1035"/>
          <ac:spMkLst>
            <pc:docMk/>
            <pc:sldMk cId="0" sldId="265"/>
            <ac:spMk id="27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23.350" v="18" actId="1035"/>
          <ac:spMkLst>
            <pc:docMk/>
            <pc:sldMk cId="0" sldId="265"/>
            <ac:spMk id="28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23.350" v="18" actId="1035"/>
          <ac:spMkLst>
            <pc:docMk/>
            <pc:sldMk cId="0" sldId="265"/>
            <ac:spMk id="29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01.742" v="4" actId="2711"/>
          <ac:spMkLst>
            <pc:docMk/>
            <pc:sldMk cId="0" sldId="265"/>
            <ac:spMk id="31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01.742" v="4" actId="2711"/>
          <ac:spMkLst>
            <pc:docMk/>
            <pc:sldMk cId="0" sldId="265"/>
            <ac:spMk id="32" creationId="{00000000-0000-0000-0000-000000000000}"/>
          </ac:spMkLst>
        </pc:spChg>
        <pc:spChg chg="mod">
          <ac:chgData name="김민영/계장/고객가치혁신인사노경1팀" userId="eb5e190c-fe15-4c48-89f0-461df3c67bfd" providerId="ADAL" clId="{54DAC3A7-8C4E-415D-8750-D8224DF0A5FE}" dt="2026-09-23T06:08:01.742" v="4" actId="2711"/>
          <ac:spMkLst>
            <pc:docMk/>
            <pc:sldMk cId="0" sldId="265"/>
            <ac:spMk id="3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센터 수</c:v>
                </c:pt>
              </c:strCache>
            </c:strRef>
          </c:tx>
          <c:spPr>
            <a:gradFill rotWithShape="1">
              <a:gsLst>
                <a:gs pos="0">
                  <a:srgbClr val="767D86"/>
                </a:gs>
                <a:gs pos="48000">
                  <a:srgbClr val="3B3F45"/>
                </a:gs>
                <a:gs pos="100000">
                  <a:srgbClr val="23262A"/>
                </a:gs>
              </a:gsLst>
              <a:lin ang="0" scaled="0"/>
            </a:gradFill>
            <a:ln w="3175">
              <a:solidFill>
                <a:srgbClr val="2B2E33"/>
              </a:solidFill>
            </a:ln>
            <a:effectLst>
              <a:outerShdw blurRad="25146" dist="9601" dir="2700000" algn="tl" rotWithShape="0">
                <a:srgbClr val="000000">
                  <a:alpha val="19800"/>
                </a:srgbClr>
              </a:outerShdw>
            </a:effectLst>
            <a:scene3d>
              <a:camera prst="orthographicFront"/>
              <a:lightRig rig="soft" dir="t">
                <a:rot lat="0" lon="0" rev="0"/>
              </a:lightRig>
            </a:scene3d>
            <a:sp3d prstMaterial="matte">
              <a:bevelT w="14224" h="7112"/>
            </a:sp3d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13-43C1-BB98-BA527F95CB3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D13-43C1-BB98-BA527F95CB3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D13-43C1-BB98-BA527F95CB38}"/>
              </c:ext>
            </c:extLst>
          </c:dPt>
          <c:dPt>
            <c:idx val="3"/>
            <c:invertIfNegative val="0"/>
            <c:bubble3D val="0"/>
            <c:spPr>
              <a:gradFill rotWithShape="1">
                <a:gsLst>
                  <a:gs pos="0">
                    <a:srgbClr val="DB4069"/>
                  </a:gs>
                  <a:gs pos="48000">
                    <a:srgbClr val="A50034"/>
                  </a:gs>
                  <a:gs pos="100000">
                    <a:srgbClr val="6E0022"/>
                  </a:gs>
                </a:gsLst>
                <a:lin ang="0" scaled="0"/>
              </a:gradFill>
              <a:ln w="3175">
                <a:solidFill>
                  <a:srgbClr val="7A0026"/>
                </a:solidFill>
              </a:ln>
              <a:effectLst>
                <a:outerShdw blurRad="25146" dist="9601" dir="2700000" algn="tl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soft" dir="t">
                  <a:rot lat="0" lon="0" rev="0"/>
                </a:lightRig>
              </a:scene3d>
              <a:sp3d prstMaterial="matte">
                <a:bevelT w="14224" h="7112"/>
              </a:sp3d>
            </c:spPr>
            <c:extLst>
              <c:ext xmlns:c16="http://schemas.microsoft.com/office/drawing/2014/chart" uri="{C3380CC4-5D6E-409C-BE32-E72D297353CC}">
                <c16:uniqueId val="{00000007-CD13-43C1-BB98-BA527F95CB38}"/>
              </c:ext>
            </c:extLst>
          </c:dPt>
          <c:dPt>
            <c:idx val="4"/>
            <c:invertIfNegative val="0"/>
            <c:bubble3D val="0"/>
            <c:spPr>
              <a:gradFill rotWithShape="1">
                <a:gsLst>
                  <a:gs pos="0">
                    <a:srgbClr val="DB4069"/>
                  </a:gs>
                  <a:gs pos="48000">
                    <a:srgbClr val="A50034"/>
                  </a:gs>
                  <a:gs pos="100000">
                    <a:srgbClr val="6E0022"/>
                  </a:gs>
                </a:gsLst>
                <a:lin ang="0" scaled="0"/>
              </a:gradFill>
              <a:ln w="3175">
                <a:solidFill>
                  <a:srgbClr val="7A0026"/>
                </a:solidFill>
              </a:ln>
              <a:effectLst>
                <a:outerShdw blurRad="25146" dist="9601" dir="2700000" algn="tl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soft" dir="t">
                  <a:rot lat="0" lon="0" rev="0"/>
                </a:lightRig>
              </a:scene3d>
              <a:sp3d prstMaterial="matte">
                <a:bevelT w="14224" h="7112"/>
              </a:sp3d>
            </c:spPr>
            <c:extLst>
              <c:ext xmlns:c16="http://schemas.microsoft.com/office/drawing/2014/chart" uri="{C3380CC4-5D6E-409C-BE32-E72D297353CC}">
                <c16:uniqueId val="{00000009-CD13-43C1-BB98-BA527F95CB3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8명 미만</c:v>
                </c:pt>
                <c:pt idx="1">
                  <c:v>8~9명</c:v>
                </c:pt>
                <c:pt idx="2">
                  <c:v>10명</c:v>
                </c:pt>
                <c:pt idx="3">
                  <c:v>11명</c:v>
                </c:pt>
                <c:pt idx="4">
                  <c:v>12명 이상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</c:v>
                </c:pt>
                <c:pt idx="1">
                  <c:v>34</c:v>
                </c:pt>
                <c:pt idx="2">
                  <c:v>26</c:v>
                </c:pt>
                <c:pt idx="3">
                  <c:v>13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D13-43C1-BB98-BA527F95CB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txPr>
    <a:bodyPr/>
    <a:lstStyle/>
    <a:p>
      <a:pPr>
        <a:defRPr>
          <a:latin typeface="Arial Narrow" panose="020B0606020202030204" pitchFamily="34" charset="0"/>
          <a:ea typeface="LG스마트체 Regular" panose="020B0600000101010101" pitchFamily="50" charset="-127"/>
        </a:defRPr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203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20517" y="4623363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C7D2">
                    <a:alpha val="78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勞</a:t>
            </a:r>
            <a:endParaRPr lang="en-US" sz="4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00293" y="4623363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4E7EB">
                    <a:alpha val="78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經</a:t>
            </a:r>
            <a:endParaRPr lang="en-US" sz="4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44645" y="4123361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50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ONE</a:t>
            </a:r>
            <a:endParaRPr 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E7C3C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노와 경은 하나</a:t>
            </a:r>
            <a:endParaRPr 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822960" cy="5029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17830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DD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인사노경1팀장이 반장님께 직접 드리는 이야기</a:t>
            </a:r>
            <a:endParaRPr lang="en-US" sz="15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당신은 조합원이기 전에</a:t>
            </a:r>
            <a:endParaRPr lang="en-US" sz="4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회사의 중요한 </a:t>
            </a:r>
            <a:r>
              <a:rPr lang="en-US" sz="4100" b="1" dirty="0">
                <a:solidFill>
                  <a:srgbClr val="D8456B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현장 리더</a:t>
            </a:r>
            <a:r>
              <a:rPr lang="en-US" sz="41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입니다</a:t>
            </a:r>
            <a:endParaRPr lang="en-US" sz="4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42245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4BB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회사와 현장을 연결하고, 반원의 성장으로 성과를 만드는 반장으로</a:t>
            </a:r>
            <a:endParaRPr lang="en-US" sz="1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928" y="4892040"/>
            <a:ext cx="512064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4892040"/>
            <a:ext cx="64008" cy="822960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5528" y="4983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고객가치혁신부문 인사노경1팀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EB4BB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`26년 반장 부트캠프  |  60분  |  2026.09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WHY THIS SESSION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오늘 60분은 부트캠프의 반복이 아닙니다</a:t>
            </a:r>
            <a:endParaRPr lang="en-US" sz="2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EXG팀(인재육성·조직문화)은 리더십 Skill을, 인사노경팀은 반장의 위치·책임·약속을 이야기합니다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6519672"/>
            <a:ext cx="201168" cy="201168"/>
          </a:xfrm>
          <a:prstGeom prst="ellipse">
            <a:avLst/>
          </a:prstGeom>
          <a:solidFill>
            <a:srgbClr val="A50034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6519672"/>
            <a:ext cx="201168" cy="201168"/>
          </a:xfrm>
          <a:prstGeom prst="ellipse">
            <a:avLst/>
          </a:prstGeom>
          <a:solidFill>
            <a:srgbClr val="3B3F45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40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고객가치혁신부문 인사노경1팀  |  `26년 반장 부트캠프 특강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01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1920240"/>
            <a:ext cx="35204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3520440" cy="64008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9536" y="2212848"/>
            <a:ext cx="658368" cy="658368"/>
          </a:xfrm>
          <a:prstGeom prst="ellipse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377440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59536" y="29992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인재육성 / 조직문화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59536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EXG팀 부트캠프</a:t>
            </a:r>
            <a:endParaRPr lang="en-US" sz="1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9536" y="37033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센터의 하루를 중심으로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리더십 이해 · 진단 · Skill · 실천과제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334256" y="1920240"/>
            <a:ext cx="35204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334256" y="1920240"/>
            <a:ext cx="3520440" cy="64008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626864" y="2212848"/>
            <a:ext cx="658368" cy="658368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2377440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626864" y="29992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인사노경 관점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626864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오늘의 60분</a:t>
            </a:r>
            <a:endParaRPr lang="en-US" sz="1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626864" y="37033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조합원이면서 관리자인 반장의 위치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회사의 방향과 성과 책임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인사노경의 지원 약속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8101584" y="1920240"/>
            <a:ext cx="35204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8101584" y="1920240"/>
            <a:ext cx="3520440" cy="64008"/>
          </a:xfrm>
          <a:prstGeom prst="rect">
            <a:avLst/>
          </a:prstGeom>
          <a:solidFill>
            <a:srgbClr val="5A6470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8394192" y="2212848"/>
            <a:ext cx="658368" cy="658368"/>
          </a:xfrm>
          <a:prstGeom prst="ellipse">
            <a:avLst/>
          </a:prstGeom>
          <a:solidFill>
            <a:srgbClr val="5A6470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2377440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94192" y="29992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상호 약속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8394192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오늘의 결론</a:t>
            </a:r>
            <a:endParaRPr lang="en-US" sz="18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8394192" y="37033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반장의 역할과 기여를 더 분명히 하고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리더로서 더 잘 일할 수 있는 여건을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함께 만들어 가겠습니다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566928" y="5349240"/>
            <a:ext cx="11055096" cy="749808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566928" y="5349240"/>
            <a:ext cx="64008" cy="749808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841248" y="5349240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리더십 Skill은 EXG팀이, 반장이라는 「자리」의 의미는 인사노경팀이 말씀드립니다.</a:t>
            </a:r>
            <a:endParaRPr lang="en-US" sz="15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HONEST TALK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솔직히 말씀드리면, 이 자리가 쉽지만은 않습니다</a:t>
            </a:r>
            <a:endParaRPr lang="en-US" sz="2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201168" cy="201168"/>
          </a:xfrm>
          <a:prstGeom prst="ellipse">
            <a:avLst/>
          </a:prstGeom>
          <a:solidFill>
            <a:srgbClr val="A50034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6519672"/>
            <a:ext cx="201168" cy="201168"/>
          </a:xfrm>
          <a:prstGeom prst="ellipse">
            <a:avLst/>
          </a:prstGeom>
          <a:solidFill>
            <a:srgbClr val="3B3F45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840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고객가치혁신부문 인사노경1팀  |  `26년 반장 부트캠프 특강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02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928" y="1965960"/>
            <a:ext cx="11055096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1965960"/>
            <a:ext cx="11055096" cy="64008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6968" y="20116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Georgia" pitchFamily="34" charset="-120"/>
              </a:rPr>
              <a:t>“</a:t>
            </a:r>
            <a:endParaRPr lang="en-US" sz="7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18488" y="2487168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회사의 전략과 방향을 </a:t>
            </a:r>
            <a:r>
              <a:rPr lang="en-US" sz="24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조합원인 반장님</a:t>
            </a:r>
            <a:r>
              <a:rPr lang="en-US" sz="24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께 직접 설명하는 일은</a:t>
            </a:r>
            <a:endParaRPr lang="en-US" sz="2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회사에도, 반장님께도 조금은 부담스러운 자리입니다.</a:t>
            </a:r>
            <a:endParaRPr lang="en-US" sz="2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18488" y="37673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“왜 우리에게 이런 역할까지 요구하나”, “권한은 그대로인데 책임만 더 주는 것 아닌가” — </a:t>
            </a:r>
            <a:r>
              <a:rPr lang="ko-KR" alt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이</a:t>
            </a:r>
            <a:r>
              <a:rPr 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런 </a:t>
            </a:r>
            <a:r>
              <a:rPr lang="en-US" sz="1300" dirty="0" err="1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질문은</a:t>
            </a:r>
            <a:r>
              <a:rPr 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  <a:r>
              <a:rPr lang="ko-KR" alt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당연합니다</a:t>
            </a:r>
            <a:r>
              <a:rPr lang="en-US" altLang="ko-KR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.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" y="4709160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6928" y="4709160"/>
            <a:ext cx="64008" cy="1371600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48646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피하지 않겠습니다</a:t>
            </a:r>
            <a:endParaRPr lang="en-US" sz="1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5193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부담스러운 주제일수록 돌려 말하지 </a:t>
            </a:r>
            <a:r>
              <a:rPr lang="en-US" sz="11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않고</a:t>
            </a: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직접</a:t>
            </a: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  <a:r>
              <a:rPr lang="en-US" sz="11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설명드립니다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34256" y="4709160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34256" y="4709160"/>
            <a:ext cx="64008" cy="1371600"/>
          </a:xfrm>
          <a:prstGeom prst="rect">
            <a:avLst/>
          </a:prstGeom>
          <a:solidFill>
            <a:srgbClr val="9AA1A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90288" y="48646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동의하지 않으셔도 됩니다</a:t>
            </a:r>
            <a:endParaRPr lang="en-US" sz="1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90288" y="5193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다만 “나는 지금 반장 역할을 하고 있는가”는 한 번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생각해</a:t>
            </a: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주십시오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01584" y="4709160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01584" y="4709160"/>
            <a:ext cx="64008" cy="1371600"/>
          </a:xfrm>
          <a:prstGeom prst="rect">
            <a:avLst/>
          </a:prstGeom>
          <a:solidFill>
            <a:srgbClr val="9AA1A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57616" y="48646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듣는 자리이기도 합니다</a:t>
            </a:r>
            <a:endParaRPr lang="en-US" sz="1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57616" y="5193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오늘의 마지막 15분은 반장님의 </a:t>
            </a:r>
            <a:r>
              <a:rPr lang="en-US" sz="11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이야기를</a:t>
            </a: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듣는</a:t>
            </a: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  <a:r>
              <a:rPr lang="en-US" sz="11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시간입니다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WHY WE CAME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그럼에도 인사노경팀이 직접 이 자리에 온 이유</a:t>
            </a:r>
            <a:endParaRPr lang="en-US" sz="2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센터장·실장에게만 설명하고 반장에게는 실행만 요구하는 방식으로는 현장이 함께 움직이지 않습니다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6519672"/>
            <a:ext cx="201168" cy="201168"/>
          </a:xfrm>
          <a:prstGeom prst="ellipse">
            <a:avLst/>
          </a:prstGeom>
          <a:solidFill>
            <a:srgbClr val="A50034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6519672"/>
            <a:ext cx="201168" cy="201168"/>
          </a:xfrm>
          <a:prstGeom prst="ellipse">
            <a:avLst/>
          </a:prstGeom>
          <a:solidFill>
            <a:srgbClr val="3B3F45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40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고객가치혁신부문 인사노경1팀  |  `26년 반장 부트캠프 특강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03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1888140"/>
            <a:ext cx="11055096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1888140"/>
            <a:ext cx="64008" cy="1298448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86968" y="214417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CED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01</a:t>
            </a:r>
            <a:endParaRPr lang="en-US" sz="4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892808" y="2308764"/>
            <a:ext cx="457200" cy="457200"/>
          </a:xfrm>
          <a:prstGeom prst="ellipse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536" y="2418492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578608" y="23636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더 이상 빼놓지 않겠습니다</a:t>
            </a:r>
            <a:endParaRPr lang="en-US" sz="1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510528" y="218074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 방향 공유에서 반장을 제외하지 않겠습니다.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이유를</a:t>
            </a:r>
            <a:r>
              <a:rPr lang="en-US" sz="12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모르면 반원에게 설명할 수 없습니다.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66928" y="3351180"/>
            <a:ext cx="11055096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66928" y="3351180"/>
            <a:ext cx="64008" cy="1298448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86968" y="360721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CED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02</a:t>
            </a:r>
            <a:endParaRPr lang="en-US" sz="4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892808" y="3771804"/>
            <a:ext cx="457200" cy="457200"/>
          </a:xfrm>
          <a:prstGeom prst="ellipse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2536" y="3881532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578608" y="3812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배경까지 직접 설명하겠습니다</a:t>
            </a:r>
            <a:endParaRPr lang="en-US" sz="1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510528" y="36437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요구만이 아니라 왜 그런 결정을 했는지, 무엇을 </a:t>
            </a:r>
            <a:r>
              <a:rPr lang="en-US" sz="12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우려하는지</a:t>
            </a:r>
            <a:r>
              <a:rPr lang="en-US" sz="12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직접</a:t>
            </a:r>
            <a:r>
              <a:rPr lang="en-US" sz="12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말씀드립니다.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566928" y="4814220"/>
            <a:ext cx="11055096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566928" y="4814220"/>
            <a:ext cx="64008" cy="1298448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886968" y="507025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03</a:t>
            </a:r>
            <a:endParaRPr lang="en-US" sz="4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1892808" y="5234844"/>
            <a:ext cx="457200" cy="45720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2536" y="5344572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578608" y="52714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함께 책임지겠습니다</a:t>
            </a:r>
            <a:endParaRPr lang="en-US" sz="1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6510528" y="51068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R&amp;R 수행을 막는 구조와 제도는 인사노경팀이 함께 바꾸겠습니다.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50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B3F45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반장에게는 두 개의 위치가 있습니다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201168" cy="201168"/>
          </a:xfrm>
          <a:prstGeom prst="ellipse">
            <a:avLst/>
          </a:prstGeom>
          <a:solidFill>
            <a:srgbClr val="A50034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85800" y="6519672"/>
            <a:ext cx="201168" cy="201168"/>
          </a:xfrm>
          <a:prstGeom prst="ellipse">
            <a:avLst/>
          </a:prstGeom>
          <a:solidFill>
            <a:srgbClr val="3B3F45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7840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고객가치혁신부문 인사노경1팀  |  `26년 반장 부트캠프 특강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500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2148840"/>
            <a:ext cx="2834640" cy="2834640"/>
          </a:xfrm>
          <a:prstGeom prst="ellipse">
            <a:avLst/>
          </a:prstGeom>
          <a:solidFill>
            <a:srgbClr val="5A6470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089197" y="2148840"/>
            <a:ext cx="2834640" cy="2834640"/>
          </a:xfrm>
          <a:prstGeom prst="ellipse">
            <a:avLst/>
          </a:prstGeom>
          <a:solidFill>
            <a:srgbClr val="A50034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148840" y="308152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기능직 노동조합의</a:t>
            </a:r>
            <a:endParaRPr lang="en-US" sz="115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조합원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49240" y="308152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회사가 공식 선임한</a:t>
            </a:r>
            <a:endParaRPr lang="en-US" sz="115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현장 관리자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50208" y="31089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B3F45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반장</a:t>
            </a:r>
            <a:endParaRPr lang="en-US" sz="19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B3F45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가교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780508" y="1764925"/>
            <a:ext cx="386674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780509" y="1764925"/>
            <a:ext cx="64008" cy="1600200"/>
          </a:xfrm>
          <a:prstGeom prst="rect">
            <a:avLst/>
          </a:prstGeom>
          <a:solidFill>
            <a:srgbClr val="5A647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054829" y="1920373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3F45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조합원으로서의 강점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54828" y="2249557"/>
            <a:ext cx="34173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470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현장의 어려움과 구성원의 목소리를 가장 잘 압니다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470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제도가 현장에 미치는 영향을 압니다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470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동료와 함께 일하는 구성원입니다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80509" y="3502285"/>
            <a:ext cx="386674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780509" y="3502285"/>
            <a:ext cx="64008" cy="1600200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054829" y="3657733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3F45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관리자로서의 책임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54829" y="3986917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470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반원의 업무와 성장을 관리합니다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470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회사 기준을 현장에서 실행합니다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470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반 단위 성과와 조직 Risk를 관리합니다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486400"/>
            <a:ext cx="7223760" cy="658368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95528" y="548640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LG스마트체 Regular" pitchFamily="34" charset="0"/>
                <a:ea typeface="LG스마트체 Regular" pitchFamily="34" charset="-122"/>
                <a:cs typeface="LG스마트체 Regular" pitchFamily="34" charset="-120"/>
              </a:rPr>
              <a:t>둘 중 하나를 선택하는 것이 아니라, 두 위치를 책임 있게 연결하는 것이 반장의 역할입니다.</a:t>
            </a:r>
            <a:endParaRPr lang="en-US" sz="13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ORDER OF IDENTITY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분명히 말씀드리고 싶은 한 가지</a:t>
            </a:r>
            <a:endParaRPr lang="en-US" sz="2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반장님은 조합원이기 이전에 회사의 구성원이며, 동시에 회사가 선임한 공식 직책자입니다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6519672"/>
            <a:ext cx="201168" cy="201168"/>
          </a:xfrm>
          <a:prstGeom prst="ellipse">
            <a:avLst/>
          </a:prstGeom>
          <a:solidFill>
            <a:srgbClr val="A50034">
              <a:alpha val="385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6519672"/>
            <a:ext cx="201168" cy="201168"/>
          </a:xfrm>
          <a:prstGeom prst="ellipse">
            <a:avLst/>
          </a:prstGeom>
          <a:solidFill>
            <a:srgbClr val="3B3F45">
              <a:alpha val="385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40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고객가치혁신부문 인사노경1팀  |  `26년 반장 부트캠프 특강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05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74505" y="2011680"/>
            <a:ext cx="3611880" cy="1371600"/>
          </a:xfrm>
          <a:prstGeom prst="chevron">
            <a:avLst/>
          </a:prstGeom>
          <a:gradFill rotWithShape="1">
            <a:gsLst>
              <a:gs pos="0">
                <a:srgbClr val="70767E"/>
              </a:gs>
              <a:gs pos="48000">
                <a:srgbClr val="3B3F45"/>
              </a:gs>
              <a:gs pos="100000">
                <a:srgbClr val="23262A"/>
              </a:gs>
            </a:gsLst>
            <a:lin ang="5400000" scaled="0"/>
          </a:gradFill>
          <a:ln w="9525">
            <a:noFill/>
            <a:prstDash val="solid"/>
          </a:ln>
          <a:effectLst>
            <a:outerShdw blurRad="33528" dist="12801" dir="2700000" algn="tl" rotWithShape="0">
              <a:srgbClr val="000000">
                <a:alpha val="176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8288" h="9144"/>
          </a:sp3d>
        </p:spPr>
        <p:txBody>
          <a:bodyPr/>
          <a:lstStyle/>
          <a:p>
            <a:endParaRPr lang="ko-KR" altLang="en-US" dirty="0">
              <a:highlight>
                <a:srgbClr val="000000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1665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 구성원</a:t>
            </a:r>
            <a:endParaRPr lang="en-US" sz="2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928" y="35204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우리 회사에 소속된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구성원입니다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98848" y="2011680"/>
            <a:ext cx="3611880" cy="1371600"/>
          </a:xfrm>
          <a:prstGeom prst="chevron">
            <a:avLst/>
          </a:prstGeom>
          <a:gradFill rotWithShape="1">
            <a:gsLst>
              <a:gs pos="0">
                <a:srgbClr val="D93A64"/>
              </a:gs>
              <a:gs pos="48000">
                <a:srgbClr val="A50034"/>
              </a:gs>
              <a:gs pos="100000">
                <a:srgbClr val="6E0022"/>
              </a:gs>
            </a:gsLst>
            <a:lin ang="5400000" scaled="0"/>
          </a:gradFill>
          <a:ln w="9525">
            <a:noFill/>
            <a:prstDash val="solid"/>
          </a:ln>
          <a:effectLst>
            <a:outerShdw blurRad="37719" dist="13868" dir="2700000" algn="tl" rotWithShape="0">
              <a:srgbClr val="000000">
                <a:alpha val="209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20320" h="10160"/>
          </a:sp3d>
        </p:spPr>
        <p:txBody>
          <a:bodyPr/>
          <a:lstStyle/>
          <a:p>
            <a:endParaRPr lang="ko-KR" altLang="en-US" dirty="0">
              <a:highlight>
                <a:srgbClr val="FF0000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36008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 직책</a:t>
            </a:r>
            <a:endParaRPr lang="en-US" sz="2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98848" y="35204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회사가 공식 선임한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현장 관리 직책입니다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41121" y="2011680"/>
            <a:ext cx="3611880" cy="1371600"/>
          </a:xfrm>
          <a:prstGeom prst="chevron">
            <a:avLst/>
          </a:prstGeom>
          <a:gradFill rotWithShape="1">
            <a:gsLst>
              <a:gs pos="0">
                <a:srgbClr val="8C95A1"/>
              </a:gs>
              <a:gs pos="48000">
                <a:srgbClr val="5A6470"/>
              </a:gs>
              <a:gs pos="100000">
                <a:srgbClr val="3A424C"/>
              </a:gs>
            </a:gsLst>
            <a:lin ang="5400000" scaled="0"/>
          </a:gradFill>
          <a:ln w="9525">
            <a:noFill/>
            <a:prstDash val="solid"/>
          </a:ln>
          <a:effectLst>
            <a:outerShdw blurRad="33528" dist="12801" dir="2700000" algn="tl" rotWithShape="0">
              <a:srgbClr val="000000">
                <a:alpha val="176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8288" h="9144"/>
          </a:sp3d>
        </p:spPr>
        <p:txBody>
          <a:bodyPr/>
          <a:lstStyle/>
          <a:p>
            <a:endParaRPr lang="ko-KR" altLang="en-US" dirty="0">
              <a:highlight>
                <a:srgbClr val="808080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78281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성과 책임</a:t>
            </a:r>
            <a:endParaRPr lang="en-US" sz="2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30768" y="35204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반원의 성과와 센터 실행에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책임이 생깁니다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4434840"/>
            <a:ext cx="1105509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3820" dist="10668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6928" y="4434840"/>
            <a:ext cx="64008" cy="1691640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32688" y="4663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조합원이라는 위치가 </a:t>
            </a:r>
            <a:r>
              <a:rPr lang="en-US" sz="2000" b="1" dirty="0" err="1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회사의</a:t>
            </a:r>
            <a:r>
              <a:rPr lang="en-US" sz="20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  <a:r>
              <a:rPr lang="en-US" sz="2000" b="1" dirty="0" err="1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성과</a:t>
            </a:r>
            <a:r>
              <a:rPr lang="ko-KR" altLang="en-US" sz="20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와</a:t>
            </a:r>
            <a:r>
              <a:rPr lang="en-US" sz="20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책임을 없애지는 않습니다.</a:t>
            </a:r>
            <a:endParaRPr lang="en-US" sz="2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32688" y="51389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반장이 되면 개인 업무만 잘해서는 충분하지 않습니다. 반원의 기술이 성장하는지, 품질 문제가 반복되지 않는지, 회사와 센터의 방향이 반 단위에서 </a:t>
            </a:r>
            <a:r>
              <a:rPr lang="en-US" sz="12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실행되는지</a:t>
            </a:r>
            <a:r>
              <a:rPr lang="en-US" sz="12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2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확인해야</a:t>
            </a:r>
            <a:r>
              <a:rPr lang="en-US" sz="12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합니다.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32688" y="56509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“나는 일을 잘하는 SM인가, 반원이 일을 잘하도록 만드는 반장인가.”</a:t>
            </a:r>
            <a:endParaRPr lang="en-US" sz="1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WHY FOREMAN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회사가 반장을 가장 중요한 리더로 보는 이유</a:t>
            </a:r>
            <a:endParaRPr lang="en-US" sz="2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구성원 · 현장 · 고객 · 기술력, 그 모든 것에 가장 가까이 있는 사람이 반장입니다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6519672"/>
            <a:ext cx="201168" cy="201168"/>
          </a:xfrm>
          <a:prstGeom prst="ellipse">
            <a:avLst/>
          </a:prstGeom>
          <a:solidFill>
            <a:srgbClr val="A50034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6519672"/>
            <a:ext cx="201168" cy="201168"/>
          </a:xfrm>
          <a:prstGeom prst="ellipse">
            <a:avLst/>
          </a:prstGeom>
          <a:solidFill>
            <a:srgbClr val="3B3F45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40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고객가치혁신부문 인사노경1팀  |  `26년 반장 부트캠프 특강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06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463040" y="2194560"/>
            <a:ext cx="3200400" cy="3200400"/>
          </a:xfrm>
          <a:prstGeom prst="ellipse">
            <a:avLst/>
          </a:prstGeom>
          <a:solidFill>
            <a:srgbClr val="DDE1E6">
              <a:alpha val="65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97380" y="2628900"/>
            <a:ext cx="2331720" cy="2331720"/>
          </a:xfrm>
          <a:prstGeom prst="ellipse">
            <a:avLst/>
          </a:prstGeom>
          <a:solidFill>
            <a:srgbClr val="C3CAD1">
              <a:alpha val="65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31720" y="3063240"/>
            <a:ext cx="1463040" cy="146304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31720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</a:t>
            </a:r>
            <a:endParaRPr lang="en-US" sz="2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최단거리 리더</a:t>
            </a:r>
            <a:endParaRPr lang="en-US" sz="2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78992" y="2414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구성원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41648" y="2414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현장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78992" y="46085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58378" y="46085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기술력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394960" y="1751955"/>
            <a:ext cx="6217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394960" y="1751955"/>
            <a:ext cx="64008" cy="1298448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23560" y="2172579"/>
            <a:ext cx="457200" cy="457200"/>
          </a:xfrm>
          <a:prstGeom prst="ellipse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2282307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263640" y="1989699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가장 가까이 있습니다</a:t>
            </a:r>
            <a:endParaRPr lang="en-US" sz="15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263640" y="2355459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반원의 기술 수준과 애로, 현장의 작은 이상 신호를 가장 먼저 봅니다.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394960" y="3214995"/>
            <a:ext cx="6217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394960" y="3214995"/>
            <a:ext cx="64008" cy="1298448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623560" y="3635619"/>
            <a:ext cx="457200" cy="457200"/>
          </a:xfrm>
          <a:prstGeom prst="ellipse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3745347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263640" y="3452739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가장 빨리 바꿀 수 있습니다</a:t>
            </a:r>
            <a:endParaRPr lang="en-US" sz="15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6263640" y="3818499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조회 한마디, 업무 배분, 난수리 지원, 피드백 한 번이 반원의 행동을 바꿉니다.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5394960" y="4678035"/>
            <a:ext cx="6217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5394960" y="4678035"/>
            <a:ext cx="64008" cy="1298448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5623560" y="5098659"/>
            <a:ext cx="457200" cy="45720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3288" y="5208387"/>
            <a:ext cx="237744" cy="23774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263640" y="4915779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성과로 연결됩니다</a:t>
            </a:r>
            <a:endParaRPr lang="en-US" sz="15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6263640" y="5281539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센터장·실장의 방향을 반원 행동으로, 반원의 실행을 센터 성과로 연결합니다.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566928" y="612583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※ 해외 연구에서도 현장 리더(Frontline Leader)는 전체 리더십 인력의 약 80%를 차지하며 몰입·성과에 가장 큰 영향을 미치는 계층으로 평가됩니다. (Korn Ferry)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FACT &amp; DATA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숫자로 보는 반장 — 여러분이 현장의 절대 다수를 이끌고 있습니다</a:t>
            </a:r>
            <a:endParaRPr lang="en-US" sz="2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한국서비스 반장 및 출장인원 운영 현황 (반장SOC 기준)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6519672"/>
            <a:ext cx="201168" cy="201168"/>
          </a:xfrm>
          <a:prstGeom prst="ellipse">
            <a:avLst/>
          </a:prstGeom>
          <a:solidFill>
            <a:srgbClr val="A50034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6519672"/>
            <a:ext cx="201168" cy="201168"/>
          </a:xfrm>
          <a:prstGeom prst="ellipse">
            <a:avLst/>
          </a:prstGeom>
          <a:solidFill>
            <a:srgbClr val="3B3F45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40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고객가치혁신부문 인사노경1팀  |  `26년 반장 부트캠프 특강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07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19202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2606040" cy="64008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5528" y="2194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227</a:t>
            </a:r>
            <a:r>
              <a:rPr lang="en-US" sz="15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명</a:t>
            </a:r>
            <a:endParaRPr lang="en-US" sz="4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5528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전국 반장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5528" y="3200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116개 센터 운영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01568" y="19202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01568" y="1920240"/>
            <a:ext cx="2606040" cy="64008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30168" y="2194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2,035</a:t>
            </a:r>
            <a:r>
              <a:rPr lang="en-US" sz="15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명</a:t>
            </a:r>
            <a:endParaRPr lang="en-US" sz="3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30168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반장이 이끄는 출장인원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30168" y="3200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센터 총 구성원 2,983명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36208" y="19202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36208" y="1920240"/>
            <a:ext cx="2606040" cy="64008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64808" y="2194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8.9</a:t>
            </a:r>
            <a:r>
              <a:rPr lang="en-US" sz="15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명</a:t>
            </a:r>
            <a:endParaRPr lang="en-US" sz="4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64808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 1인당 평균 출장인원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64808" y="3200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최대 13명 관리 센터 존재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070848" y="19202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070848" y="1920240"/>
            <a:ext cx="2606040" cy="64008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299448" y="2194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高</a:t>
            </a:r>
            <a:endParaRPr lang="en-US" sz="4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299448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정기평가 상위 성과자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99448" y="3200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고성과·고평가 인원이 반장으로 선임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66928" y="379476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1248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 1인당 출장인원 분포 (110개 센터)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33" name="Chart 0"/>
          <p:cNvGraphicFramePr/>
          <p:nvPr>
            <p:extLst>
              <p:ext uri="{D42A27DB-BD31-4B8C-83A1-F6EECF244321}">
                <p14:modId xmlns:p14="http://schemas.microsoft.com/office/powerpoint/2010/main" val="1973308109"/>
              </p:ext>
            </p:extLst>
          </p:nvPr>
        </p:nvGraphicFramePr>
        <p:xfrm>
          <a:off x="704088" y="4224528"/>
          <a:ext cx="52578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Shape 31"/>
          <p:cNvSpPr/>
          <p:nvPr/>
        </p:nvSpPr>
        <p:spPr>
          <a:xfrm>
            <a:off x="6446520" y="3794760"/>
            <a:ext cx="5166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446520" y="3794760"/>
            <a:ext cx="64008" cy="2286000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720840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그래서 회사는 이렇게 판단했습니다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720840" y="4261104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센터 구성원의 68%가 출장인원이며, 전원이 반장 아래에서 일합니다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 1인의 판단과 행동이 평균 9명, 많게는 13명의 성과를 좌우합니다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반장은 「잘하는 개인」이 아니라 「성과를 만드는 리더」여야 합니다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720840" y="57424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※ 센터당 반장 2명이 68개소로 최다 · 반장 미배치 5개 센터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IF NOT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반장이 역할을 하지 못하면 조직은 어떻게 되는가</a:t>
            </a:r>
            <a:endParaRPr lang="en-US" sz="2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반장이 비어 있는 자리는 조직이 대신 메우지 못합니다 — 우리가 이미 경험한 결과입니다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6519672"/>
            <a:ext cx="201168" cy="201168"/>
          </a:xfrm>
          <a:prstGeom prst="ellipse">
            <a:avLst/>
          </a:prstGeom>
          <a:solidFill>
            <a:srgbClr val="A50034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6519672"/>
            <a:ext cx="201168" cy="201168"/>
          </a:xfrm>
          <a:prstGeom prst="ellipse">
            <a:avLst/>
          </a:prstGeom>
          <a:solidFill>
            <a:srgbClr val="3B3F45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40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고객가치혁신부문 인사노경1팀  |  `26년 반장 부트캠프 특강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08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1920240"/>
            <a:ext cx="5532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64008" cy="4160520"/>
          </a:xfrm>
          <a:prstGeom prst="rect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1248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반장이 서지 못할 때</a:t>
            </a:r>
            <a:endParaRPr 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1248" y="2487168"/>
            <a:ext cx="4983480" cy="420624"/>
          </a:xfrm>
          <a:prstGeom prst="rect">
            <a:avLst/>
          </a:prstGeom>
          <a:solidFill>
            <a:srgbClr val="E6E8EC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32688" y="2551176"/>
            <a:ext cx="292608" cy="292608"/>
          </a:xfrm>
          <a:prstGeom prst="ellipse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32688" y="256946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1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44168" y="24871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 방향이 반원에게 전달되지 않음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41248" y="2999232"/>
            <a:ext cx="4983480" cy="420624"/>
          </a:xfrm>
          <a:prstGeom prst="rect">
            <a:avLst/>
          </a:prstGeom>
          <a:solidFill>
            <a:srgbClr val="E6E8EC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32688" y="3063240"/>
            <a:ext cx="292608" cy="292608"/>
          </a:xfrm>
          <a:prstGeom prst="ellipse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32688" y="308152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2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44168" y="299923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난수리·기술 코칭 공백 → 반원 역량 정체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41248" y="3511296"/>
            <a:ext cx="4983480" cy="420624"/>
          </a:xfrm>
          <a:prstGeom prst="rect">
            <a:avLst/>
          </a:prstGeom>
          <a:solidFill>
            <a:srgbClr val="E6E8EC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32688" y="3575304"/>
            <a:ext cx="292608" cy="292608"/>
          </a:xfrm>
          <a:prstGeom prst="ellipse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32688" y="359359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3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44168" y="351129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비공식 조장(셀장) 운영 → 임금체불·노경 Risk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41248" y="4023360"/>
            <a:ext cx="4983480" cy="420624"/>
          </a:xfrm>
          <a:prstGeom prst="rect">
            <a:avLst/>
          </a:prstGeom>
          <a:solidFill>
            <a:srgbClr val="E6E8EC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32688" y="4087368"/>
            <a:ext cx="292608" cy="292608"/>
          </a:xfrm>
          <a:prstGeom prst="ellipse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32688" y="410565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4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44168" y="40233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품질·고객 Claim 대응 지연, 재서비스 증가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41248" y="4535424"/>
            <a:ext cx="4983480" cy="420624"/>
          </a:xfrm>
          <a:prstGeom prst="rect">
            <a:avLst/>
          </a:prstGeom>
          <a:solidFill>
            <a:srgbClr val="E6E8EC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32688" y="4599432"/>
            <a:ext cx="292608" cy="292608"/>
          </a:xfrm>
          <a:prstGeom prst="ellipse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32688" y="46177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5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344168" y="45354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작은 불만이 축적되어 노경 갈등으로 확대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41248" y="5047488"/>
            <a:ext cx="4983480" cy="420624"/>
          </a:xfrm>
          <a:prstGeom prst="rect">
            <a:avLst/>
          </a:prstGeom>
          <a:solidFill>
            <a:srgbClr val="E6E8EC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32688" y="5111496"/>
            <a:ext cx="292608" cy="292608"/>
          </a:xfrm>
          <a:prstGeom prst="ellipse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32688" y="512978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6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344168" y="504748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센터 KPI 하락 → 다시 반장 업무 과중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41248" y="56692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※ `25년 기준 115개 센터 中 102개 센터(89%)가 비공식 조장을 운영 — 반장 업무 과중이 만든 구조적 Risk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446520" y="1920240"/>
            <a:ext cx="51663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446520" y="1920240"/>
            <a:ext cx="64008" cy="4160520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720840" y="2103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반장이 제대로 설 때</a:t>
            </a:r>
            <a:endParaRPr 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720840" y="2514600"/>
            <a:ext cx="4663440" cy="676656"/>
          </a:xfrm>
          <a:prstGeom prst="rect">
            <a:avLst/>
          </a:prstGeom>
          <a:solidFill>
            <a:srgbClr val="F8EAEE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720840" y="2514600"/>
            <a:ext cx="45720" cy="676656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903720" y="25511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기준이 전달됩니다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903720" y="28346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회사·센터 방향이 반원의 언어로 설명됩니다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720840" y="3291840"/>
            <a:ext cx="4663440" cy="676656"/>
          </a:xfrm>
          <a:prstGeom prst="rect">
            <a:avLst/>
          </a:prstGeom>
          <a:solidFill>
            <a:srgbClr val="F8EAEE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720840" y="3291840"/>
            <a:ext cx="45720" cy="676656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903720" y="33284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역량이 올라갑니다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903720" y="36118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난수리 동행·코칭으로 반원이 혼자 할 수 있게 됩니다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720840" y="4069080"/>
            <a:ext cx="4663440" cy="676656"/>
          </a:xfrm>
          <a:prstGeom prst="rect">
            <a:avLst/>
          </a:prstGeom>
          <a:solidFill>
            <a:srgbClr val="F8EAEE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720840" y="4069080"/>
            <a:ext cx="45720" cy="676656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903720" y="41056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Risk가 조기에 잡힙니다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903720" y="43891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고객·안전·정도경영·노무 이슈가 덮이지 않고 연결됩니다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720840" y="4846320"/>
            <a:ext cx="4663440" cy="676656"/>
          </a:xfrm>
          <a:prstGeom prst="rect">
            <a:avLst/>
          </a:prstGeom>
          <a:solidFill>
            <a:srgbClr val="F8EAEE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720840" y="4846320"/>
            <a:ext cx="45720" cy="676656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903720" y="48828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성과로 이어집니다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903720" y="51663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 생산성·재서비스·기술력이 센터 KPI로 연결됩니다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720840" y="57150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반장의 공백은 조직의 공백입니다.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2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1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0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WHAT WE CHANGED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`19년 직고용 이후, 회사는 반장의 역할을 계속 바꿔왔습니다</a:t>
            </a:r>
            <a:endParaRPr lang="en-US" sz="2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말이 아니라 제도로 — 반장이 리더로 성장할 수 있는 조건을 만들어 온 과정입니다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6519672"/>
            <a:ext cx="201168" cy="201168"/>
          </a:xfrm>
          <a:prstGeom prst="ellipse">
            <a:avLst/>
          </a:prstGeom>
          <a:solidFill>
            <a:srgbClr val="A50034">
              <a:alpha val="385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6519672"/>
            <a:ext cx="201168" cy="201168"/>
          </a:xfrm>
          <a:prstGeom prst="ellipse">
            <a:avLst/>
          </a:prstGeom>
          <a:solidFill>
            <a:srgbClr val="3B3F45">
              <a:alpha val="385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40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고객가치혁신부문 인사노경1팀  |  `26년 반장 부트캠프 특강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09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32688" y="3304026"/>
            <a:ext cx="105156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3F5F7"/>
              </a:gs>
              <a:gs pos="48000">
                <a:srgbClr val="C6CCD3"/>
              </a:gs>
              <a:gs pos="100000">
                <a:srgbClr val="9BA3AC"/>
              </a:gs>
            </a:gsLst>
            <a:lin ang="5400000" scaled="0"/>
          </a:gradFill>
          <a:ln>
            <a:noFill/>
          </a:ln>
          <a:effectLst>
            <a:outerShdw blurRad="20955" dist="5334" dir="2700000" algn="tl" rotWithShape="0">
              <a:srgbClr val="000000">
                <a:alpha val="143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2700" h="6350"/>
          </a:sp3d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18894" y="3163062"/>
            <a:ext cx="358140" cy="358140"/>
          </a:xfrm>
          <a:prstGeom prst="ellipse">
            <a:avLst/>
          </a:prstGeom>
          <a:gradFill rotWithShape="1">
            <a:gsLst>
              <a:gs pos="0">
                <a:srgbClr val="8B939D"/>
              </a:gs>
              <a:gs pos="42000">
                <a:srgbClr val="3B3F45"/>
              </a:gs>
              <a:gs pos="100000">
                <a:srgbClr val="1E2126"/>
              </a:gs>
            </a:gsLst>
            <a:path path="circle">
              <a:fillToRect l="28000" t="18000" r="72000" b="82000"/>
            </a:path>
          </a:gradFill>
          <a:ln w="28575">
            <a:solidFill>
              <a:srgbClr val="FFFFFF"/>
            </a:solidFill>
          </a:ln>
          <a:effectLst>
            <a:outerShdw blurRad="27940" dist="9601" dir="2700000" algn="tl" rotWithShape="0">
              <a:srgbClr val="000000">
                <a:alpha val="220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6256" h="14224"/>
          </a:sp3d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" y="1684466"/>
            <a:ext cx="2651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9372" dist="21336" dir="2700000" algn="tl" rotWithShape="0">
              <a:srgbClr val="000000">
                <a:alpha val="121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2700" h="6350"/>
          </a:sp3d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8368" y="1684466"/>
            <a:ext cx="2651760" cy="69850"/>
          </a:xfrm>
          <a:prstGeom prst="rect">
            <a:avLst/>
          </a:prstGeom>
          <a:gradFill rotWithShape="1">
            <a:gsLst>
              <a:gs pos="0">
                <a:srgbClr val="6E757E"/>
              </a:gs>
              <a:gs pos="48000">
                <a:srgbClr val="3B3F45"/>
              </a:gs>
              <a:gs pos="100000">
                <a:srgbClr val="24272C"/>
              </a:gs>
            </a:gsLst>
            <a:lin ang="0" scaled="0"/>
          </a:gradFill>
          <a:ln>
            <a:noFill/>
          </a:ln>
          <a:effectLst>
            <a:outerShdw blurRad="13970" dist="5334" dir="2700000" algn="tl" rotWithShape="0">
              <a:srgbClr val="000000">
                <a:alpha val="165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2700" h="6350"/>
          </a:sp3d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9536" y="183077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2019</a:t>
            </a:r>
            <a:endParaRPr 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9536" y="210509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직고용 전환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9536" y="237941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반장을 회사의 공식 직책으로 운영 시작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07814" y="3163062"/>
            <a:ext cx="358140" cy="358140"/>
          </a:xfrm>
          <a:prstGeom prst="ellipse">
            <a:avLst/>
          </a:prstGeom>
          <a:gradFill rotWithShape="1">
            <a:gsLst>
              <a:gs pos="0">
                <a:srgbClr val="8B939D"/>
              </a:gs>
              <a:gs pos="42000">
                <a:srgbClr val="3B3F45"/>
              </a:gs>
              <a:gs pos="100000">
                <a:srgbClr val="1E2126"/>
              </a:gs>
            </a:gsLst>
            <a:path path="circle">
              <a:fillToRect l="28000" t="18000" r="72000" b="82000"/>
            </a:path>
          </a:gradFill>
          <a:ln w="28575">
            <a:solidFill>
              <a:srgbClr val="FFFFFF"/>
            </a:solidFill>
          </a:ln>
          <a:effectLst>
            <a:outerShdw blurRad="27940" dist="9601" dir="2700000" algn="tl" rotWithShape="0">
              <a:srgbClr val="000000">
                <a:alpha val="220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6256" h="14224"/>
          </a:sp3d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47288" y="3675888"/>
            <a:ext cx="2651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9372" dist="21336" dir="2700000" algn="tl" rotWithShape="0">
              <a:srgbClr val="000000">
                <a:alpha val="121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2700" h="6350"/>
          </a:sp3d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447288" y="3675888"/>
            <a:ext cx="2651760" cy="69850"/>
          </a:xfrm>
          <a:prstGeom prst="rect">
            <a:avLst/>
          </a:prstGeom>
          <a:gradFill rotWithShape="1">
            <a:gsLst>
              <a:gs pos="0">
                <a:srgbClr val="6E757E"/>
              </a:gs>
              <a:gs pos="48000">
                <a:srgbClr val="3B3F45"/>
              </a:gs>
              <a:gs pos="100000">
                <a:srgbClr val="24272C"/>
              </a:gs>
            </a:gsLst>
            <a:lin ang="0" scaled="0"/>
          </a:gradFill>
          <a:ln>
            <a:noFill/>
          </a:ln>
          <a:effectLst>
            <a:outerShdw blurRad="13970" dist="5334" dir="2700000" algn="tl" rotWithShape="0">
              <a:srgbClr val="000000">
                <a:alpha val="165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2700" h="6350"/>
          </a:sp3d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48456" y="3822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2025</a:t>
            </a:r>
            <a:endParaRPr 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48456" y="4096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R&amp;R 재정립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48456" y="43708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센터 유형별 R&amp;R 정의 · 조장(셀장) 운영 금지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 충원 및 Rotation·선발 기준 수립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396734" y="3163062"/>
            <a:ext cx="358140" cy="358140"/>
          </a:xfrm>
          <a:prstGeom prst="ellipse">
            <a:avLst/>
          </a:prstGeom>
          <a:gradFill rotWithShape="1">
            <a:gsLst>
              <a:gs pos="0">
                <a:srgbClr val="E4557A"/>
              </a:gs>
              <a:gs pos="42000">
                <a:srgbClr val="A50034"/>
              </a:gs>
              <a:gs pos="100000">
                <a:srgbClr val="62001F"/>
              </a:gs>
            </a:gsLst>
            <a:path path="circle">
              <a:fillToRect l="28000" t="18000" r="72000" b="82000"/>
            </a:path>
          </a:gradFill>
          <a:ln w="28575">
            <a:solidFill>
              <a:srgbClr val="FFFFFF"/>
            </a:solidFill>
          </a:ln>
          <a:effectLst>
            <a:outerShdw blurRad="27940" dist="9601" dir="2700000" algn="tl" rotWithShape="0">
              <a:srgbClr val="000000">
                <a:alpha val="220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6256" h="14224"/>
          </a:sp3d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36208" y="1693431"/>
            <a:ext cx="2651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9372" dist="21336" dir="2700000" algn="tl" rotWithShape="0">
              <a:srgbClr val="000000">
                <a:alpha val="121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2700" h="6350"/>
          </a:sp3d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36208" y="1693431"/>
            <a:ext cx="2651760" cy="69850"/>
          </a:xfrm>
          <a:prstGeom prst="rect">
            <a:avLst/>
          </a:prstGeom>
          <a:gradFill rotWithShape="1">
            <a:gsLst>
              <a:gs pos="0">
                <a:srgbClr val="D33F67"/>
              </a:gs>
              <a:gs pos="48000">
                <a:srgbClr val="A50034"/>
              </a:gs>
              <a:gs pos="100000">
                <a:srgbClr val="6E0022"/>
              </a:gs>
            </a:gsLst>
            <a:lin ang="0" scaled="0"/>
          </a:gradFill>
          <a:ln>
            <a:noFill/>
          </a:ln>
          <a:effectLst>
            <a:outerShdw blurRad="13970" dist="5334" dir="2700000" algn="tl" rotWithShape="0">
              <a:srgbClr val="000000">
                <a:alpha val="165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2700" h="6350"/>
          </a:sp3d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37376" y="183973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`26 성수기</a:t>
            </a:r>
            <a:endParaRPr 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37376" y="2114055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KPI 1차 개편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37376" y="2388375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SM 이행율 10%→20%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 재서비스 등 역할 연계 지표 반영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185654" y="3163062"/>
            <a:ext cx="358140" cy="358140"/>
          </a:xfrm>
          <a:prstGeom prst="ellipse">
            <a:avLst/>
          </a:prstGeom>
          <a:gradFill rotWithShape="1">
            <a:gsLst>
              <a:gs pos="0">
                <a:srgbClr val="E4557A"/>
              </a:gs>
              <a:gs pos="42000">
                <a:srgbClr val="A50034"/>
              </a:gs>
              <a:gs pos="100000">
                <a:srgbClr val="62001F"/>
              </a:gs>
            </a:gsLst>
            <a:path path="circle">
              <a:fillToRect l="28000" t="18000" r="72000" b="82000"/>
            </a:path>
          </a:gradFill>
          <a:ln w="28575">
            <a:solidFill>
              <a:srgbClr val="FFFFFF"/>
            </a:solidFill>
          </a:ln>
          <a:effectLst>
            <a:outerShdw blurRad="27940" dist="9601" dir="2700000" algn="tl" rotWithShape="0">
              <a:srgbClr val="000000">
                <a:alpha val="220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6256" h="14224"/>
          </a:sp3d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025128" y="3675888"/>
            <a:ext cx="2651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9372" dist="21336" dir="2700000" algn="tl" rotWithShape="0">
              <a:srgbClr val="000000">
                <a:alpha val="121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2700" h="6350"/>
          </a:sp3d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025128" y="3675888"/>
            <a:ext cx="2651760" cy="69850"/>
          </a:xfrm>
          <a:prstGeom prst="rect">
            <a:avLst/>
          </a:prstGeom>
          <a:gradFill rotWithShape="1">
            <a:gsLst>
              <a:gs pos="0">
                <a:srgbClr val="D33F67"/>
              </a:gs>
              <a:gs pos="48000">
                <a:srgbClr val="A50034"/>
              </a:gs>
              <a:gs pos="100000">
                <a:srgbClr val="6E0022"/>
              </a:gs>
            </a:gsLst>
            <a:lin ang="0" scaled="0"/>
          </a:gradFill>
          <a:ln>
            <a:noFill/>
          </a:ln>
          <a:effectLst>
            <a:outerShdw blurRad="13970" dist="5334" dir="2700000" algn="tl" rotWithShape="0">
              <a:srgbClr val="000000">
                <a:alpha val="16500"/>
              </a:srgbClr>
            </a:outerShdw>
          </a:effectLst>
          <a:scene3d>
            <a:camera prst="orthographicFront"/>
            <a:lightRig rig="soft" dir="t">
              <a:rot lat="0" lon="0" rev="0"/>
            </a:lightRig>
          </a:scene3d>
          <a:sp3d prstMaterial="matte">
            <a:bevelT w="12700" h="6350"/>
          </a:sp3d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226296" y="3822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`26 비수기</a:t>
            </a:r>
            <a:endParaRPr 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226296" y="4096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육성 중심 전환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226296" y="43708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센터평가 50% → 40%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 운영기여도 30% </a:t>
            </a:r>
            <a:r>
              <a:rPr lang="en-US" sz="9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신설</a:t>
            </a:r>
            <a:endParaRPr lang="en-US" sz="950" dirty="0">
              <a:solidFill>
                <a:srgbClr val="5A647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LG스마트체 Regular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(반원 생산성·재서비스·기술력)</a:t>
            </a:r>
            <a:endParaRPr lang="en-US" sz="9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6928" y="5349240"/>
            <a:ext cx="11055096" cy="777240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66928" y="5349240"/>
            <a:ext cx="64008" cy="777240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41248" y="5349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제도는 아직 완성되지 않았습니다. 앞으로도 계속 바꿔야 할 과제라는 점을 분명히 말씀드립니다.</a:t>
            </a:r>
            <a:endParaRPr lang="en-US" sz="1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PERFORMANCE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KPI를 바꾼 것은, 반장에게 성과 책임이 있다는 뜻입니다</a:t>
            </a:r>
            <a:endParaRPr lang="en-US" sz="2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 개인의 처리량이 아니라 「반원의 성장」이 반장의 성과가 되도록 설계했습니다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6519672"/>
            <a:ext cx="201168" cy="201168"/>
          </a:xfrm>
          <a:prstGeom prst="ellipse">
            <a:avLst/>
          </a:prstGeom>
          <a:solidFill>
            <a:srgbClr val="A50034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6519672"/>
            <a:ext cx="201168" cy="201168"/>
          </a:xfrm>
          <a:prstGeom prst="ellipse">
            <a:avLst/>
          </a:prstGeom>
          <a:solidFill>
            <a:srgbClr val="3B3F45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40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고객가치혁신부문 인사노경1팀  |  `26년 반장 부트캠프 특강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10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1920240"/>
            <a:ext cx="4846320" cy="2286000"/>
          </a:xfrm>
          <a:prstGeom prst="rect">
            <a:avLst/>
          </a:prstGeom>
          <a:solidFill>
            <a:srgbClr val="E6E8EC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1248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9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AS-IS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1248" y="246888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센터평가 50%  ·  SM 이행율 10%  ·  운영기여도 40%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 개인 생산성이 센터 KPI에 포함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→ 코칭보다 직접 처리가 유리한 구조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38928" y="2788920"/>
            <a:ext cx="640080" cy="548640"/>
          </a:xfrm>
          <a:prstGeom prst="chevron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89320" y="1920240"/>
            <a:ext cx="5623560" cy="2286000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6364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C6D2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TO-BE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63640" y="246888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7DCE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센터평가 40%  ·  반 운영기여도 30%  ·  센터 운영기여도 30%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 생산성 KPI 삭제 · 반원 육성 지표 신설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7DCE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→ 반원 생산성·재서비스·기술력 향상률이 반장의 성과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6928" y="4434840"/>
            <a:ext cx="3520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6928" y="4434840"/>
            <a:ext cx="64008" cy="1645920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4617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 운영기여도 30%</a:t>
            </a:r>
            <a:endParaRPr lang="en-US" sz="13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49560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 생산성 향상률 10%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 재서비스 향상률 10%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 기술력 향상률 10%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34256" y="4434840"/>
            <a:ext cx="3520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334256" y="4434840"/>
            <a:ext cx="64008" cy="1645920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90288" y="4617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개인 평가 → 반원 육성</a:t>
            </a:r>
            <a:endParaRPr lang="en-US" sz="13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90288" y="49560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반원의 성과가 곧 반장의 성과가 되도록 설계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01584" y="4434840"/>
            <a:ext cx="3520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01584" y="4434840"/>
            <a:ext cx="64008" cy="1645920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57616" y="4617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돌려드린</a:t>
            </a:r>
            <a:r>
              <a:rPr lang="en-US" sz="135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  <a:r>
              <a:rPr lang="en-US" sz="1350" b="1" dirty="0" err="1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시간</a:t>
            </a:r>
            <a:r>
              <a:rPr lang="en-US" sz="135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(</a:t>
            </a:r>
            <a:r>
              <a:rPr lang="ko-KR" altLang="en-US" sz="135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근무 생산성 제외</a:t>
            </a:r>
            <a:r>
              <a:rPr lang="en-US" altLang="ko-KR" sz="135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, T/T </a:t>
            </a:r>
            <a:r>
              <a:rPr lang="ko-KR" altLang="en-US" sz="1350" b="1" dirty="0" err="1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미운영</a:t>
            </a:r>
            <a:r>
              <a:rPr lang="en-US" altLang="ko-KR" sz="135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)</a:t>
            </a:r>
            <a:endParaRPr lang="en-US" sz="13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57616" y="4956048"/>
            <a:ext cx="3255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난수리 지원 · 기술 코칭 · 품질 </a:t>
            </a:r>
            <a:r>
              <a:rPr lang="en-US" sz="11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관리에</a:t>
            </a:r>
            <a:r>
              <a:rPr lang="en-US" sz="11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  <a:r>
              <a:rPr lang="en-US" sz="11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사용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GROWTH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1센터 실장 체제, 그리고 반장의 성장에 대하여</a:t>
            </a:r>
            <a:endParaRPr lang="en-US" sz="2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불편한 현실도 그대로 말씀드립니다 — 그리고 지금 준비해야 할 것을 말씀드립니다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6519672"/>
            <a:ext cx="201168" cy="201168"/>
          </a:xfrm>
          <a:prstGeom prst="ellipse">
            <a:avLst/>
          </a:prstGeom>
          <a:solidFill>
            <a:srgbClr val="A50034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6519672"/>
            <a:ext cx="201168" cy="201168"/>
          </a:xfrm>
          <a:prstGeom prst="ellipse">
            <a:avLst/>
          </a:prstGeom>
          <a:solidFill>
            <a:srgbClr val="3B3F45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40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고객가치혁신부문 인사노경1팀  |  `26년 반장 부트캠프 특강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11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1920240"/>
            <a:ext cx="55321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64008" cy="1965960"/>
          </a:xfrm>
          <a:prstGeom prst="rect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1248" y="2084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우리가 알고 있는 현실</a:t>
            </a:r>
            <a:endParaRPr lang="en-US" sz="1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1248" y="2450592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1센터 실장 체제 전환으로 실장 승격 기회가 일부 제한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 업무 과중 → “반장 하고 싶지 않다”는 시선이 존재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책임은 늘었는데 권한은 부족하다는 현장의 목소리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46520" y="1920240"/>
            <a:ext cx="5166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46520" y="1920240"/>
            <a:ext cx="64008" cy="1965960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20840" y="20848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그래서 더 중요한 이야기</a:t>
            </a:r>
            <a:endParaRPr lang="en-US" sz="14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20840" y="24688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실장이 되는 순간 업무의 성격이 바뀝니다.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직접</a:t>
            </a:r>
            <a:r>
              <a:rPr lang="en-US" sz="12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수리가 아니라 인원·센터 운영 관리가 본업이 됩니다.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준비</a:t>
            </a:r>
            <a:r>
              <a:rPr lang="en-US" sz="12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없이 올라가면 더 힘들어집니다.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지금부터 준비해야 할 4가지</a:t>
            </a:r>
            <a:endParaRPr lang="en-US" sz="15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4462272"/>
            <a:ext cx="26060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6928" y="4462272"/>
            <a:ext cx="2606040" cy="64008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2960" y="4681728"/>
            <a:ext cx="502920" cy="50292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800600"/>
            <a:ext cx="265176" cy="26517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22960" y="5285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인원 운영</a:t>
            </a:r>
            <a:endParaRPr lang="en-US" sz="13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22960" y="5559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근태·출장 상황·인원 </a:t>
            </a:r>
            <a:r>
              <a:rPr lang="en-US" sz="10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Balancing을</a:t>
            </a:r>
            <a:r>
              <a:rPr lang="en-US" sz="10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숫자로</a:t>
            </a:r>
            <a:r>
              <a:rPr lang="en-US" sz="10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보는 습관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401568" y="4462272"/>
            <a:ext cx="26060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401568" y="4462272"/>
            <a:ext cx="2606040" cy="64008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657600" y="4681728"/>
            <a:ext cx="502920" cy="50292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472" y="4800600"/>
            <a:ext cx="265176" cy="26517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657600" y="5285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센터 운영</a:t>
            </a:r>
            <a:endParaRPr lang="en-US" sz="13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3657600" y="5559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지표·일정·Risk를 센터 단위로 읽는 눈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6236208" y="4462272"/>
            <a:ext cx="26060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6236208" y="4462272"/>
            <a:ext cx="2606040" cy="64008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6492240" y="4681728"/>
            <a:ext cx="502920" cy="50292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4800600"/>
            <a:ext cx="265176" cy="26517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492240" y="5285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노무 감각</a:t>
            </a:r>
            <a:endParaRPr lang="en-US" sz="13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6492240" y="5559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근로시간·평가·갈등 이슈의 </a:t>
            </a:r>
            <a:r>
              <a:rPr lang="en-US" sz="10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기준을</a:t>
            </a:r>
            <a:r>
              <a:rPr lang="en-US" sz="10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미리</a:t>
            </a:r>
            <a:r>
              <a:rPr lang="en-US" sz="10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익히기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9070848" y="4462272"/>
            <a:ext cx="26060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9070848" y="4462272"/>
            <a:ext cx="2606040" cy="64008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0" name="Shape 35"/>
          <p:cNvSpPr/>
          <p:nvPr/>
        </p:nvSpPr>
        <p:spPr>
          <a:xfrm>
            <a:off x="9326880" y="4681728"/>
            <a:ext cx="502920" cy="50292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5752" y="4800600"/>
            <a:ext cx="265176" cy="265176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9326880" y="5285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소통·설득</a:t>
            </a:r>
            <a:endParaRPr lang="en-US" sz="13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3" name="Text 37"/>
          <p:cNvSpPr/>
          <p:nvPr/>
        </p:nvSpPr>
        <p:spPr>
          <a:xfrm>
            <a:off x="9326880" y="555955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반원과 조직 사이에서 </a:t>
            </a:r>
            <a:r>
              <a:rPr lang="en-US" sz="10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기준을</a:t>
            </a:r>
            <a:r>
              <a:rPr lang="en-US" sz="10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  <a:r>
              <a:rPr lang="en-US" sz="10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설명하는</a:t>
            </a:r>
            <a:endParaRPr lang="en-US" sz="1050" dirty="0">
              <a:solidFill>
                <a:srgbClr val="5A647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LG스마트체 Regular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 err="1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훈련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BRIDGE, NOT SIDE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반장이 무조건 회사 편이 되어야 한다는 뜻은 아닙니다</a:t>
            </a:r>
            <a:endParaRPr lang="en-US" sz="2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적정한 가교 역할을 통해 우리 구성원과 일터가 좋아지게 만들어 주십시오</a:t>
            </a:r>
            <a:endParaRPr lang="en-US" sz="13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6519672"/>
            <a:ext cx="201168" cy="201168"/>
          </a:xfrm>
          <a:prstGeom prst="ellipse">
            <a:avLst/>
          </a:prstGeom>
          <a:solidFill>
            <a:srgbClr val="A50034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6519672"/>
            <a:ext cx="201168" cy="201168"/>
          </a:xfrm>
          <a:prstGeom prst="ellipse">
            <a:avLst/>
          </a:prstGeom>
          <a:solidFill>
            <a:srgbClr val="3B3F45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840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고객가치혁신부문 인사노경1팀  |  `26년 반장 부트캠프 특강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12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1920240"/>
            <a:ext cx="53492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5349240" cy="64008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9536" y="21214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이렇게 해주십시오</a:t>
            </a:r>
            <a:endParaRPr 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77824" y="2633472"/>
            <a:ext cx="182880" cy="18288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8720" y="25420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회사·센터의 기준과 그 이유를 반원에게 설명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77824" y="3118104"/>
            <a:ext cx="182880" cy="18288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88720" y="302666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현장 의견은 감정이 아니라 사실과 Data로 정리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77824" y="3602736"/>
            <a:ext cx="182880" cy="18288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88720" y="351129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해결이 어려운 쟁점은 공식 채널로 즉시 연결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77824" y="4087368"/>
            <a:ext cx="182880" cy="18288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88720" y="39959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고객·안전·정도경영·노무 Risk는 덮지 않기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81928" y="1920240"/>
            <a:ext cx="53492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81928" y="1920240"/>
            <a:ext cx="5349240" cy="64008"/>
          </a:xfrm>
          <a:prstGeom prst="rect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74536" y="21214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909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이것은 피해주십시오</a:t>
            </a:r>
            <a:endParaRPr 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92824" y="2633472"/>
            <a:ext cx="182880" cy="182880"/>
          </a:xfrm>
          <a:prstGeom prst="ellipse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03720" y="25420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조합원이라는 이유로 기준 전달을 회피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92824" y="3118104"/>
            <a:ext cx="182880" cy="182880"/>
          </a:xfrm>
          <a:prstGeom prst="ellipse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903720" y="302666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동료 관계 때문에 필요한 피드백을 생략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92824" y="3602736"/>
            <a:ext cx="182880" cy="182880"/>
          </a:xfrm>
          <a:prstGeom prst="ellipse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03720" y="351129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관리자라는 이유로 일방 지시·압박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592824" y="4087368"/>
            <a:ext cx="182880" cy="182880"/>
          </a:xfrm>
          <a:prstGeom prst="ellipse">
            <a:avLst/>
          </a:prstGeom>
          <a:solidFill>
            <a:srgbClr val="8A9099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903720" y="39959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문제를 알면서도 혼자 판단하고 덮는 것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66928" y="4846320"/>
            <a:ext cx="1105509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66928" y="4846320"/>
            <a:ext cx="11055096" cy="64008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32688" y="50109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반장은 큰소리를 내는 사람이 아니라, 필요한 순간에 불편하더라도 기준을 말하는 사람입니다.</a:t>
            </a:r>
            <a:endParaRPr lang="en-US" sz="1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32688" y="5440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기준은 피하지 말고, 사람은 존중하고, 어려운 쟁점은 공식적으로 연결하는 것 — 이것이 회사가 기대하는 현장 리더의 모습입니다.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TWO-WAY PROMISE</a:t>
            </a:r>
            <a:endParaRPr 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회사만 요구하고 반장만 책임지는 구조로 만들지 않겠습니다</a:t>
            </a:r>
            <a:endParaRPr lang="en-US" sz="2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201168" cy="201168"/>
          </a:xfrm>
          <a:prstGeom prst="ellipse">
            <a:avLst/>
          </a:prstGeom>
          <a:solidFill>
            <a:srgbClr val="A50034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6519672"/>
            <a:ext cx="201168" cy="201168"/>
          </a:xfrm>
          <a:prstGeom prst="ellipse">
            <a:avLst/>
          </a:prstGeom>
          <a:solidFill>
            <a:srgbClr val="3B3F45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840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18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고객가치혁신부문 인사노경1팀  |  `26년 반장 부트캠프 특강</a:t>
            </a:r>
            <a:endParaRPr 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0762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13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928" y="1874520"/>
            <a:ext cx="5349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1874520"/>
            <a:ext cx="5349240" cy="566928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187452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반장의 약속</a:t>
            </a:r>
            <a:endParaRPr lang="en-US" sz="15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9536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1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25296" y="26060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 방향을 이해하고 반원에게 설명하겠습니다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9536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2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25296" y="31729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반원의 성과와 성장을 관리하겠습니다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9536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3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25296" y="373989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Risk를 피하지 않고 공식적으로 연결하겠습니다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9536" y="4379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4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25296" y="43068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반원과 일터가 좋아지는 가교가 되겠습니다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79008" y="3154680"/>
            <a:ext cx="640080" cy="548640"/>
          </a:xfrm>
          <a:prstGeom prst="chevron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29400" y="1874520"/>
            <a:ext cx="4983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629400" y="1874520"/>
            <a:ext cx="4983480" cy="566928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29400" y="18745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인사노경팀의 약속</a:t>
            </a:r>
            <a:endParaRPr lang="en-US" sz="15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922008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1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287768" y="26060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센터 유형별 R&amp;R과 역할 경계를 명확히 하겠습니다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22008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2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87768" y="31729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성과 피드백·갈등 대응 기준과 도구를 제공하겠습니다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22008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3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287768" y="373989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직접 처리 부담·인원·Rotation·KPI를 계속 개선하겠습니다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22008" y="4379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0034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4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287768" y="43068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반장이 회사 리더로 성장하도록 지원하겠습니다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66928" y="5230368"/>
            <a:ext cx="11055096" cy="868680"/>
          </a:xfrm>
          <a:prstGeom prst="rect">
            <a:avLst/>
          </a:prstGeom>
          <a:solidFill>
            <a:srgbClr val="3B3F45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66928" y="5230368"/>
            <a:ext cx="64008" cy="868680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41248" y="5230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회사는 실행 조건을 만들고, 반장은 그 조건 안에서 반원의 성장과 성과를 책임지는 관계입니다.</a:t>
            </a:r>
            <a:endParaRPr lang="en-US" sz="15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0" y="5257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勞 · 經 ONE</a:t>
            </a:r>
            <a:endParaRPr 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8456B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-120"/>
              </a:rPr>
              <a:t>CLOSING &amp; DIALOGUE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내일부터 반장으로서 시작할 한 가지</a:t>
            </a:r>
            <a:endParaRPr lang="en-US" sz="3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52044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3520440" cy="54864"/>
          </a:xfrm>
          <a:prstGeom prst="rect">
            <a:avLst/>
          </a:prstGeom>
          <a:solidFill>
            <a:srgbClr val="D8456B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설명할 것</a:t>
            </a:r>
            <a:endParaRPr lang="en-US" sz="1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8CDD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반원에게 회사·센터의 방향과 그 이유를 직접 설명할 한 가지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34256" y="1828800"/>
            <a:ext cx="352044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34256" y="1828800"/>
            <a:ext cx="3520440" cy="54864"/>
          </a:xfrm>
          <a:prstGeom prst="rect">
            <a:avLst/>
          </a:prstGeom>
          <a:solidFill>
            <a:srgbClr val="D8456B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90288" y="2029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관리할 것</a:t>
            </a:r>
            <a:endParaRPr lang="en-US" sz="1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90288" y="23957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8CDD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반원의 성과·기술·품질 중 이번 달 반드시 </a:t>
            </a:r>
            <a:r>
              <a:rPr lang="en-US" sz="1150" dirty="0" err="1">
                <a:solidFill>
                  <a:srgbClr val="C8CDD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개선할</a:t>
            </a:r>
            <a:r>
              <a:rPr lang="en-US" sz="1150" dirty="0">
                <a:solidFill>
                  <a:srgbClr val="C8CDD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8CDD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한 가지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01584" y="1828800"/>
            <a:ext cx="352044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01584" y="1828800"/>
            <a:ext cx="3520440" cy="54864"/>
          </a:xfrm>
          <a:prstGeom prst="rect">
            <a:avLst/>
          </a:prstGeom>
          <a:solidFill>
            <a:srgbClr val="D8456B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57616" y="2029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요청할 것</a:t>
            </a:r>
            <a:endParaRPr lang="en-US" sz="17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57616" y="23957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8CDD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센터장·실장·인사노경에 공식적으로 지원을 요청할 한 가지</a:t>
            </a:r>
            <a:endParaRPr lang="en-US" sz="11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6928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56B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인사노경팀이 오늘 꼭 듣고 싶은 세 가지</a:t>
            </a:r>
            <a:endParaRPr lang="en-US" sz="16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6928" y="4032504"/>
            <a:ext cx="274320" cy="27432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928" y="405079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1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78408" y="39776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5D9D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회사 방향을 반원에게 설명하거나 실행할 때 가장 부담되는 것은 무엇입니까?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6928" y="4489704"/>
            <a:ext cx="274320" cy="27432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6928" y="450799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2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78408" y="44348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5D9D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반원 육성과 성과관리를 막고 있는 업무·권한·관계·제도는 무엇입니까?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" y="4946904"/>
            <a:ext cx="274320" cy="274320"/>
          </a:xfrm>
          <a:prstGeom prst="ellipse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6928" y="496519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 Narrow" pitchFamily="34" charset="-120"/>
              </a:rPr>
              <a:t>3</a:t>
            </a:r>
            <a:endParaRPr lang="en-US" sz="11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78408" y="48920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5D9D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R&amp;R · 교육 · 인원 · KPI · 소통 중 무엇부터 바꿔드리면 좋겠습니까?</a:t>
            </a:r>
            <a:endParaRPr lang="en-US" sz="12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66928" y="5532120"/>
            <a:ext cx="7680960" cy="868680"/>
          </a:xfrm>
          <a:prstGeom prst="rect">
            <a:avLst/>
          </a:prstGeom>
          <a:solidFill>
            <a:srgbClr val="A50034"/>
          </a:solidFill>
          <a:ln/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86968" y="553212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여러분은 현장의 전면에서 반원을 이끌어 주십시오.</a:t>
            </a:r>
            <a:endParaRPr lang="en-US" sz="15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LG스마트체 Regular" pitchFamily="34" charset="-120"/>
              </a:rPr>
              <a:t>인사노경팀은 뒤에서 여러분의 든든한 지원자가 되겠습니다.</a:t>
            </a:r>
            <a:endParaRPr lang="en-US" sz="15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ClosingD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>
              <a:alpha val="95000"/>
            </a:srgbClr>
          </a:solidFill>
          <a:ln>
            <a:noFill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ClosingRule"/>
          <p:cNvSpPr/>
          <p:nvPr/>
        </p:nvSpPr>
        <p:spPr>
          <a:xfrm>
            <a:off x="5852160" y="2651760"/>
            <a:ext cx="487680" cy="27432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txBody>
          <a:bodyPr/>
          <a:lstStyle/>
          <a:p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ThankYou"/>
          <p:cNvSpPr/>
          <p:nvPr/>
        </p:nvSpPr>
        <p:spPr>
          <a:xfrm>
            <a:off x="0" y="2926080"/>
            <a:ext cx="12192000" cy="1005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altLang="en-US" sz="5400" b="1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감사합니다.</a:t>
            </a:r>
          </a:p>
        </p:txBody>
      </p:sp>
      <p:sp>
        <p:nvSpPr>
          <p:cNvPr id="33" name="ClosingSign"/>
          <p:cNvSpPr/>
          <p:nvPr/>
        </p:nvSpPr>
        <p:spPr>
          <a:xfrm>
            <a:off x="0" y="4114800"/>
            <a:ext cx="12192000" cy="3657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altLang="en-US" sz="1400">
                <a:solidFill>
                  <a:srgbClr val="C8CDD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고객가치혁신부문 인사노경1팀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1752</Words>
  <Application>Microsoft Office PowerPoint</Application>
  <PresentationFormat>와이드스크린</PresentationFormat>
  <Paragraphs>314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LG스마트체 Regular</vt:lpstr>
      <vt:lpstr>Arial</vt:lpstr>
      <vt:lpstr>Arial Narrow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`26년 반장 부트캠프 인사노경 특강</dc:title>
  <dc:subject>PptxGenJS Presentation</dc:subject>
  <dc:creator>김민영/계장/고객가치혁신인사노경1팀</dc:creator>
  <cp:lastModifiedBy>taekyung73.kim@gmail.com</cp:lastModifiedBy>
  <cp:revision>2</cp:revision>
  <dcterms:created xsi:type="dcterms:W3CDTF">2026-09-23T06:56:22Z</dcterms:created>
  <dcterms:modified xsi:type="dcterms:W3CDTF">2026-09-30T12:22:34Z</dcterms:modified>
</cp:coreProperties>
</file>